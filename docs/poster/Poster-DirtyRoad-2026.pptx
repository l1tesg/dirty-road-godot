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8800425" cy="51120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21" d="100"/>
          <a:sy n="21" d="100"/>
        </p:scale>
        <p:origin x="1530"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2160032" y="8366281"/>
            <a:ext cx="24480361" cy="17797568"/>
          </a:xfrm>
        </p:spPr>
        <p:txBody>
          <a:bodyPr anchor="b"/>
          <a:lstStyle>
            <a:lvl1pPr algn="ctr">
              <a:defRPr sz="18898"/>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3600053" y="26850192"/>
            <a:ext cx="21600319" cy="12342326"/>
          </a:xfrm>
        </p:spPr>
        <p:txBody>
          <a:bodyPr/>
          <a:lstStyle>
            <a:lvl1pPr marL="0" indent="0" algn="ctr">
              <a:buNone/>
              <a:defRPr sz="7559"/>
            </a:lvl1pPr>
            <a:lvl2pPr marL="1440043" indent="0" algn="ctr">
              <a:buNone/>
              <a:defRPr sz="6299"/>
            </a:lvl2pPr>
            <a:lvl3pPr marL="2880086" indent="0" algn="ctr">
              <a:buNone/>
              <a:defRPr sz="5669"/>
            </a:lvl3pPr>
            <a:lvl4pPr marL="4320129" indent="0" algn="ctr">
              <a:buNone/>
              <a:defRPr sz="5040"/>
            </a:lvl4pPr>
            <a:lvl5pPr marL="5760171" indent="0" algn="ctr">
              <a:buNone/>
              <a:defRPr sz="5040"/>
            </a:lvl5pPr>
            <a:lvl6pPr marL="7200214" indent="0" algn="ctr">
              <a:buNone/>
              <a:defRPr sz="5040"/>
            </a:lvl6pPr>
            <a:lvl7pPr marL="8640257" indent="0" algn="ctr">
              <a:buNone/>
              <a:defRPr sz="5040"/>
            </a:lvl7pPr>
            <a:lvl8pPr marL="10080300" indent="0" algn="ctr">
              <a:buNone/>
              <a:defRPr sz="5040"/>
            </a:lvl8pPr>
            <a:lvl9pPr marL="11520343" indent="0" algn="ctr">
              <a:buNone/>
              <a:defRPr sz="504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244743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558612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965030" y="12744683"/>
            <a:ext cx="24840367" cy="21264777"/>
          </a:xfrm>
        </p:spPr>
        <p:txBody>
          <a:bodyPr anchor="b"/>
          <a:lstStyle>
            <a:lvl1pPr>
              <a:defRPr sz="18898"/>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965030" y="34210633"/>
            <a:ext cx="24840367" cy="11182644"/>
          </a:xfrm>
        </p:spPr>
        <p:txBody>
          <a:bodyPr/>
          <a:lstStyle>
            <a:lvl1pPr marL="0" indent="0">
              <a:buNone/>
              <a:defRPr sz="7559">
                <a:solidFill>
                  <a:schemeClr val="tx1"/>
                </a:solidFill>
              </a:defRPr>
            </a:lvl1pPr>
            <a:lvl2pPr marL="1440043" indent="0">
              <a:buNone/>
              <a:defRPr sz="6299">
                <a:solidFill>
                  <a:schemeClr val="tx1">
                    <a:tint val="75000"/>
                  </a:schemeClr>
                </a:solidFill>
              </a:defRPr>
            </a:lvl2pPr>
            <a:lvl3pPr marL="2880086" indent="0">
              <a:buNone/>
              <a:defRPr sz="5669">
                <a:solidFill>
                  <a:schemeClr val="tx1">
                    <a:tint val="75000"/>
                  </a:schemeClr>
                </a:solidFill>
              </a:defRPr>
            </a:lvl3pPr>
            <a:lvl4pPr marL="4320129" indent="0">
              <a:buNone/>
              <a:defRPr sz="5040">
                <a:solidFill>
                  <a:schemeClr val="tx1">
                    <a:tint val="75000"/>
                  </a:schemeClr>
                </a:solidFill>
              </a:defRPr>
            </a:lvl4pPr>
            <a:lvl5pPr marL="5760171" indent="0">
              <a:buNone/>
              <a:defRPr sz="5040">
                <a:solidFill>
                  <a:schemeClr val="tx1">
                    <a:tint val="75000"/>
                  </a:schemeClr>
                </a:solidFill>
              </a:defRPr>
            </a:lvl5pPr>
            <a:lvl6pPr marL="7200214" indent="0">
              <a:buNone/>
              <a:defRPr sz="5040">
                <a:solidFill>
                  <a:schemeClr val="tx1">
                    <a:tint val="75000"/>
                  </a:schemeClr>
                </a:solidFill>
              </a:defRPr>
            </a:lvl6pPr>
            <a:lvl7pPr marL="8640257" indent="0">
              <a:buNone/>
              <a:defRPr sz="5040">
                <a:solidFill>
                  <a:schemeClr val="tx1">
                    <a:tint val="75000"/>
                  </a:schemeClr>
                </a:solidFill>
              </a:defRPr>
            </a:lvl7pPr>
            <a:lvl8pPr marL="10080300" indent="0">
              <a:buNone/>
              <a:defRPr sz="5040">
                <a:solidFill>
                  <a:schemeClr val="tx1">
                    <a:tint val="75000"/>
                  </a:schemeClr>
                </a:solidFill>
              </a:defRPr>
            </a:lvl8pPr>
            <a:lvl9pPr marL="11520343" indent="0">
              <a:buNone/>
              <a:defRPr sz="504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5131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980029"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14580215"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5362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983780" y="2721714"/>
            <a:ext cx="24840367" cy="9880968"/>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3784" y="12531669"/>
            <a:ext cx="12183928"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4" name="Content Placeholder 3"/>
          <p:cNvSpPr>
            <a:spLocks noGrp="1"/>
          </p:cNvSpPr>
          <p:nvPr>
            <p:ph sz="half" idx="2"/>
          </p:nvPr>
        </p:nvSpPr>
        <p:spPr>
          <a:xfrm>
            <a:off x="1983784" y="18673247"/>
            <a:ext cx="12183928"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14580217" y="12531669"/>
            <a:ext cx="12243932"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6" name="Content Placeholder 5"/>
          <p:cNvSpPr>
            <a:spLocks noGrp="1"/>
          </p:cNvSpPr>
          <p:nvPr>
            <p:ph sz="quarter" idx="4"/>
          </p:nvPr>
        </p:nvSpPr>
        <p:spPr>
          <a:xfrm>
            <a:off x="14580217" y="18673247"/>
            <a:ext cx="12243932"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A08EA47-1105-4B9A-B345-5118B71F0985}" type="datetimeFigureOut">
              <a:rPr lang="es-CO" smtClean="0"/>
              <a:t>16/10/2026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68423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A08EA47-1105-4B9A-B345-5118B71F0985}" type="datetimeFigureOut">
              <a:rPr lang="es-CO" smtClean="0"/>
              <a:t>16/10/2026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5414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08EA47-1105-4B9A-B345-5118B71F0985}" type="datetimeFigureOut">
              <a:rPr lang="es-CO" smtClean="0"/>
              <a:t>16/10/2026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880245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Content Placeholder 2"/>
          <p:cNvSpPr>
            <a:spLocks noGrp="1"/>
          </p:cNvSpPr>
          <p:nvPr>
            <p:ph idx="1"/>
          </p:nvPr>
        </p:nvSpPr>
        <p:spPr>
          <a:xfrm>
            <a:off x="12243932" y="7360442"/>
            <a:ext cx="14580215" cy="36328813"/>
          </a:xfrm>
        </p:spPr>
        <p:txBody>
          <a:bodyPr/>
          <a:lstStyle>
            <a:lvl1pPr>
              <a:defRPr sz="10079"/>
            </a:lvl1pPr>
            <a:lvl2pPr>
              <a:defRPr sz="8819"/>
            </a:lvl2pPr>
            <a:lvl3pPr>
              <a:defRPr sz="7559"/>
            </a:lvl3pPr>
            <a:lvl4pPr>
              <a:defRPr sz="6299"/>
            </a:lvl4pPr>
            <a:lvl5pPr>
              <a:defRPr sz="6299"/>
            </a:lvl5pPr>
            <a:lvl6pPr>
              <a:defRPr sz="6299"/>
            </a:lvl6pPr>
            <a:lvl7pPr>
              <a:defRPr sz="6299"/>
            </a:lvl7pPr>
            <a:lvl8pPr>
              <a:defRPr sz="6299"/>
            </a:lvl8pPr>
            <a:lvl9pPr>
              <a:defRPr sz="6299"/>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70010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2243932" y="7360442"/>
            <a:ext cx="14580215" cy="36328813"/>
          </a:xfrm>
        </p:spPr>
        <p:txBody>
          <a:bodyPr anchor="t"/>
          <a:lstStyle>
            <a:lvl1pPr marL="0" indent="0">
              <a:buNone/>
              <a:defRPr sz="10079"/>
            </a:lvl1pPr>
            <a:lvl2pPr marL="1440043" indent="0">
              <a:buNone/>
              <a:defRPr sz="8819"/>
            </a:lvl2pPr>
            <a:lvl3pPr marL="2880086" indent="0">
              <a:buNone/>
              <a:defRPr sz="7559"/>
            </a:lvl3pPr>
            <a:lvl4pPr marL="4320129" indent="0">
              <a:buNone/>
              <a:defRPr sz="6299"/>
            </a:lvl4pPr>
            <a:lvl5pPr marL="5760171" indent="0">
              <a:buNone/>
              <a:defRPr sz="6299"/>
            </a:lvl5pPr>
            <a:lvl6pPr marL="7200214" indent="0">
              <a:buNone/>
              <a:defRPr sz="6299"/>
            </a:lvl6pPr>
            <a:lvl7pPr marL="8640257" indent="0">
              <a:buNone/>
              <a:defRPr sz="6299"/>
            </a:lvl7pPr>
            <a:lvl8pPr marL="10080300" indent="0">
              <a:buNone/>
              <a:defRPr sz="6299"/>
            </a:lvl8pPr>
            <a:lvl9pPr marL="11520343" indent="0">
              <a:buNone/>
              <a:defRPr sz="6299"/>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12887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3279872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0610306" y="2721703"/>
            <a:ext cx="6210092" cy="4332240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980031" y="2721703"/>
            <a:ext cx="18270270" cy="4332240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3121545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80029" y="2721714"/>
            <a:ext cx="24840367" cy="9880968"/>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0029" y="13608513"/>
            <a:ext cx="24840367" cy="32435599"/>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980029" y="47381303"/>
            <a:ext cx="6480096" cy="2721703"/>
          </a:xfrm>
          <a:prstGeom prst="rect">
            <a:avLst/>
          </a:prstGeom>
        </p:spPr>
        <p:txBody>
          <a:bodyPr vert="horz" lIns="91440" tIns="45720" rIns="91440" bIns="45720" rtlCol="0" anchor="ctr"/>
          <a:lstStyle>
            <a:lvl1pPr algn="l">
              <a:defRPr sz="3780">
                <a:solidFill>
                  <a:schemeClr val="tx1">
                    <a:tint val="75000"/>
                  </a:schemeClr>
                </a:solidFill>
              </a:defRPr>
            </a:lvl1pPr>
          </a:lstStyle>
          <a:p>
            <a:fld id="{4A08EA47-1105-4B9A-B345-5118B71F0985}" type="datetimeFigureOut">
              <a:rPr lang="es-CO" smtClean="0"/>
              <a:t>16/10/2026</a:t>
            </a:fld>
            <a:endParaRPr lang="es-CO"/>
          </a:p>
        </p:txBody>
      </p:sp>
      <p:sp>
        <p:nvSpPr>
          <p:cNvPr id="5" name="Footer Placeholder 4"/>
          <p:cNvSpPr>
            <a:spLocks noGrp="1"/>
          </p:cNvSpPr>
          <p:nvPr>
            <p:ph type="ftr" sz="quarter" idx="3"/>
          </p:nvPr>
        </p:nvSpPr>
        <p:spPr>
          <a:xfrm>
            <a:off x="9540141" y="47381303"/>
            <a:ext cx="9720143" cy="2721703"/>
          </a:xfrm>
          <a:prstGeom prst="rect">
            <a:avLst/>
          </a:prstGeom>
        </p:spPr>
        <p:txBody>
          <a:bodyPr vert="horz" lIns="91440" tIns="45720" rIns="91440" bIns="45720" rtlCol="0" anchor="ctr"/>
          <a:lstStyle>
            <a:lvl1pPr algn="ctr">
              <a:defRPr sz="378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20340300" y="47381303"/>
            <a:ext cx="6480096" cy="2721703"/>
          </a:xfrm>
          <a:prstGeom prst="rect">
            <a:avLst/>
          </a:prstGeom>
        </p:spPr>
        <p:txBody>
          <a:bodyPr vert="horz" lIns="91440" tIns="45720" rIns="91440" bIns="45720" rtlCol="0" anchor="ctr"/>
          <a:lstStyle>
            <a:lvl1pPr algn="r">
              <a:defRPr sz="3780">
                <a:solidFill>
                  <a:schemeClr val="tx1">
                    <a:tint val="75000"/>
                  </a:schemeClr>
                </a:solidFill>
              </a:defRPr>
            </a:lvl1pPr>
          </a:lstStyle>
          <a:p>
            <a:fld id="{8B71043A-F544-4DAD-AE2D-308E2E208104}" type="slidenum">
              <a:rPr lang="es-CO" smtClean="0"/>
              <a:t>‹Nº›</a:t>
            </a:fld>
            <a:endParaRPr lang="es-CO"/>
          </a:p>
        </p:txBody>
      </p:sp>
    </p:spTree>
    <p:extLst>
      <p:ext uri="{BB962C8B-B14F-4D97-AF65-F5344CB8AC3E}">
        <p14:creationId xmlns:p14="http://schemas.microsoft.com/office/powerpoint/2010/main" val="327904239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80086" rtl="0" eaLnBrk="1" latinLnBrk="0" hangingPunct="1">
        <a:lnSpc>
          <a:spcPct val="90000"/>
        </a:lnSpc>
        <a:spcBef>
          <a:spcPct val="0"/>
        </a:spcBef>
        <a:buNone/>
        <a:defRPr sz="13859" kern="1200">
          <a:solidFill>
            <a:schemeClr val="tx1"/>
          </a:solidFill>
          <a:latin typeface="+mj-lt"/>
          <a:ea typeface="+mj-ea"/>
          <a:cs typeface="+mj-cs"/>
        </a:defRPr>
      </a:lvl1pPr>
    </p:titleStyle>
    <p:bodyStyle>
      <a:lvl1pPr marL="720021" indent="-720021" algn="l" defTabSz="2880086" rtl="0" eaLnBrk="1" latinLnBrk="0" hangingPunct="1">
        <a:lnSpc>
          <a:spcPct val="90000"/>
        </a:lnSpc>
        <a:spcBef>
          <a:spcPts val="3150"/>
        </a:spcBef>
        <a:buFont typeface="Arial" panose="020B0604020202020204" pitchFamily="34" charset="0"/>
        <a:buChar char="•"/>
        <a:defRPr sz="8819" kern="1200">
          <a:solidFill>
            <a:schemeClr val="tx1"/>
          </a:solidFill>
          <a:latin typeface="+mn-lt"/>
          <a:ea typeface="+mn-ea"/>
          <a:cs typeface="+mn-cs"/>
        </a:defRPr>
      </a:lvl1pPr>
      <a:lvl2pPr marL="2160064" indent="-720021" algn="l" defTabSz="2880086" rtl="0" eaLnBrk="1" latinLnBrk="0" hangingPunct="1">
        <a:lnSpc>
          <a:spcPct val="90000"/>
        </a:lnSpc>
        <a:spcBef>
          <a:spcPts val="1575"/>
        </a:spcBef>
        <a:buFont typeface="Arial" panose="020B0604020202020204" pitchFamily="34" charset="0"/>
        <a:buChar char="•"/>
        <a:defRPr sz="7559" kern="1200">
          <a:solidFill>
            <a:schemeClr val="tx1"/>
          </a:solidFill>
          <a:latin typeface="+mn-lt"/>
          <a:ea typeface="+mn-ea"/>
          <a:cs typeface="+mn-cs"/>
        </a:defRPr>
      </a:lvl2pPr>
      <a:lvl3pPr marL="3600107" indent="-720021" algn="l" defTabSz="2880086" rtl="0" eaLnBrk="1" latinLnBrk="0" hangingPunct="1">
        <a:lnSpc>
          <a:spcPct val="90000"/>
        </a:lnSpc>
        <a:spcBef>
          <a:spcPts val="1575"/>
        </a:spcBef>
        <a:buFont typeface="Arial" panose="020B0604020202020204" pitchFamily="34" charset="0"/>
        <a:buChar char="•"/>
        <a:defRPr sz="6299" kern="1200">
          <a:solidFill>
            <a:schemeClr val="tx1"/>
          </a:solidFill>
          <a:latin typeface="+mn-lt"/>
          <a:ea typeface="+mn-ea"/>
          <a:cs typeface="+mn-cs"/>
        </a:defRPr>
      </a:lvl3pPr>
      <a:lvl4pPr marL="5040150"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4pPr>
      <a:lvl5pPr marL="6480193"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5pPr>
      <a:lvl6pPr marL="7920236"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6pPr>
      <a:lvl7pPr marL="9360278"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7pPr>
      <a:lvl8pPr marL="10800321"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8pPr>
      <a:lvl9pPr marL="12240364"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9pPr>
    </p:bodyStyle>
    <p:otherStyle>
      <a:defPPr>
        <a:defRPr lang="en-US"/>
      </a:defPPr>
      <a:lvl1pPr marL="0" algn="l" defTabSz="2880086" rtl="0" eaLnBrk="1" latinLnBrk="0" hangingPunct="1">
        <a:defRPr sz="5669" kern="1200">
          <a:solidFill>
            <a:schemeClr val="tx1"/>
          </a:solidFill>
          <a:latin typeface="+mn-lt"/>
          <a:ea typeface="+mn-ea"/>
          <a:cs typeface="+mn-cs"/>
        </a:defRPr>
      </a:lvl1pPr>
      <a:lvl2pPr marL="1440043" algn="l" defTabSz="2880086" rtl="0" eaLnBrk="1" latinLnBrk="0" hangingPunct="1">
        <a:defRPr sz="5669" kern="1200">
          <a:solidFill>
            <a:schemeClr val="tx1"/>
          </a:solidFill>
          <a:latin typeface="+mn-lt"/>
          <a:ea typeface="+mn-ea"/>
          <a:cs typeface="+mn-cs"/>
        </a:defRPr>
      </a:lvl2pPr>
      <a:lvl3pPr marL="2880086" algn="l" defTabSz="2880086" rtl="0" eaLnBrk="1" latinLnBrk="0" hangingPunct="1">
        <a:defRPr sz="5669" kern="1200">
          <a:solidFill>
            <a:schemeClr val="tx1"/>
          </a:solidFill>
          <a:latin typeface="+mn-lt"/>
          <a:ea typeface="+mn-ea"/>
          <a:cs typeface="+mn-cs"/>
        </a:defRPr>
      </a:lvl3pPr>
      <a:lvl4pPr marL="4320129" algn="l" defTabSz="2880086" rtl="0" eaLnBrk="1" latinLnBrk="0" hangingPunct="1">
        <a:defRPr sz="5669" kern="1200">
          <a:solidFill>
            <a:schemeClr val="tx1"/>
          </a:solidFill>
          <a:latin typeface="+mn-lt"/>
          <a:ea typeface="+mn-ea"/>
          <a:cs typeface="+mn-cs"/>
        </a:defRPr>
      </a:lvl4pPr>
      <a:lvl5pPr marL="5760171" algn="l" defTabSz="2880086" rtl="0" eaLnBrk="1" latinLnBrk="0" hangingPunct="1">
        <a:defRPr sz="5669" kern="1200">
          <a:solidFill>
            <a:schemeClr val="tx1"/>
          </a:solidFill>
          <a:latin typeface="+mn-lt"/>
          <a:ea typeface="+mn-ea"/>
          <a:cs typeface="+mn-cs"/>
        </a:defRPr>
      </a:lvl5pPr>
      <a:lvl6pPr marL="7200214" algn="l" defTabSz="2880086" rtl="0" eaLnBrk="1" latinLnBrk="0" hangingPunct="1">
        <a:defRPr sz="5669" kern="1200">
          <a:solidFill>
            <a:schemeClr val="tx1"/>
          </a:solidFill>
          <a:latin typeface="+mn-lt"/>
          <a:ea typeface="+mn-ea"/>
          <a:cs typeface="+mn-cs"/>
        </a:defRPr>
      </a:lvl6pPr>
      <a:lvl7pPr marL="8640257" algn="l" defTabSz="2880086" rtl="0" eaLnBrk="1" latinLnBrk="0" hangingPunct="1">
        <a:defRPr sz="5669" kern="1200">
          <a:solidFill>
            <a:schemeClr val="tx1"/>
          </a:solidFill>
          <a:latin typeface="+mn-lt"/>
          <a:ea typeface="+mn-ea"/>
          <a:cs typeface="+mn-cs"/>
        </a:defRPr>
      </a:lvl7pPr>
      <a:lvl8pPr marL="10080300" algn="l" defTabSz="2880086" rtl="0" eaLnBrk="1" latinLnBrk="0" hangingPunct="1">
        <a:defRPr sz="5669" kern="1200">
          <a:solidFill>
            <a:schemeClr val="tx1"/>
          </a:solidFill>
          <a:latin typeface="+mn-lt"/>
          <a:ea typeface="+mn-ea"/>
          <a:cs typeface="+mn-cs"/>
        </a:defRPr>
      </a:lvl8pPr>
      <a:lvl9pPr marL="11520343" algn="l" defTabSz="2880086" rtl="0" eaLnBrk="1" latinLnBrk="0" hangingPunct="1">
        <a:defRPr sz="566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2A4F27D-F053-45D2-B2F4-75697E5F61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533"/>
            <a:ext cx="28800425" cy="51081608"/>
          </a:xfrm>
          <a:prstGeom prst="rect">
            <a:avLst/>
          </a:prstGeom>
        </p:spPr>
      </p:pic>
      <p:sp>
        <p:nvSpPr>
          <p:cNvPr id="6" name="CuadroTexto 5">
            <a:extLst>
              <a:ext uri="{FF2B5EF4-FFF2-40B4-BE49-F238E27FC236}">
                <a16:creationId xmlns:a16="http://schemas.microsoft.com/office/drawing/2014/main" id="{29C0B9E1-BD15-4DB5-AD94-EF9959D0F8C3}"/>
              </a:ext>
            </a:extLst>
          </p:cNvPr>
          <p:cNvSpPr txBox="1"/>
          <p:nvPr/>
        </p:nvSpPr>
        <p:spPr>
          <a:xfrm>
            <a:off x="6598508" y="5486400"/>
            <a:ext cx="17052324" cy="830997"/>
          </a:xfrm>
          <a:prstGeom prst="rect">
            <a:avLst/>
          </a:prstGeom>
          <a:noFill/>
        </p:spPr>
        <p:txBody>
          <a:bodyPr wrap="square" rtlCol="0">
            <a:spAutoFit/>
          </a:bodyPr>
          <a:lstStyle/>
          <a:p>
            <a:r>
              <a:rPr lang="es-MX" sz="4400" dirty="0"/>
              <a:t>CREACIÓN DE UN VIDEOJUEGO EN GODOT ENGINE PARA CONCIENTIZAR SOBRE EL CUIDADO DEL MEDIO AMBIENTE ENFOCADO A MAYORES DE 10 AÑOS</a:t>
            </a:r>
            <a:endParaRPr lang="es-CO" sz="4800" dirty="0"/>
          </a:p>
        </p:txBody>
      </p:sp>
      <p:sp>
        <p:nvSpPr>
          <p:cNvPr id="7" name="CuadroTexto 6">
            <a:extLst>
              <a:ext uri="{FF2B5EF4-FFF2-40B4-BE49-F238E27FC236}">
                <a16:creationId xmlns:a16="http://schemas.microsoft.com/office/drawing/2014/main" id="{E034CAB3-2197-4ACD-B844-B4DFF7166B3F}"/>
              </a:ext>
            </a:extLst>
          </p:cNvPr>
          <p:cNvSpPr txBox="1"/>
          <p:nvPr/>
        </p:nvSpPr>
        <p:spPr>
          <a:xfrm>
            <a:off x="6549080" y="7961868"/>
            <a:ext cx="20880000" cy="830997"/>
          </a:xfrm>
          <a:prstGeom prst="rect">
            <a:avLst/>
          </a:prstGeom>
          <a:noFill/>
        </p:spPr>
        <p:txBody>
          <a:bodyPr wrap="square" rtlCol="0">
            <a:spAutoFit/>
          </a:bodyPr>
          <a:lstStyle/>
          <a:p>
            <a:r>
              <a:rPr lang="es-MX" sz="4000" dirty="0" b="0"/>
              <a:t>Juan Felipe Casas Aguilar</a:t>
            </a:r>
            <a:endParaRPr lang="es-CO" sz="4800" dirty="0"/>
          </a:p>
          <a:p>
            <a:r>
              <a:rPr lang="es-MX" sz="4000" dirty="0" b="0"/>
              <a:t>Miguel Ángel Murcia Galindo</a:t>
            </a:r>
            <a:endParaRPr lang="es-CO" sz="4800" dirty="0"/>
          </a:p>
          <a:p>
            <a:r>
              <a:rPr lang="es-MX" sz="4000" dirty="0" b="0"/>
              <a:t>Emmanuel Efrén Rosero Sánchez</a:t>
            </a:r>
            <a:endParaRPr lang="es-CO" sz="4800" dirty="0"/>
          </a:p>
        </p:txBody>
      </p:sp>
      <p:sp>
        <p:nvSpPr>
          <p:cNvPr id="8" name="CuadroTexto 7">
            <a:extLst>
              <a:ext uri="{FF2B5EF4-FFF2-40B4-BE49-F238E27FC236}">
                <a16:creationId xmlns:a16="http://schemas.microsoft.com/office/drawing/2014/main" id="{A50B846C-633C-4D07-8408-D8A2C17C37BE}"/>
              </a:ext>
            </a:extLst>
          </p:cNvPr>
          <p:cNvSpPr txBox="1"/>
          <p:nvPr/>
        </p:nvSpPr>
        <p:spPr>
          <a:xfrm>
            <a:off x="6549080" y="10610333"/>
            <a:ext cx="20561644" cy="830997"/>
          </a:xfrm>
          <a:prstGeom prst="rect">
            <a:avLst/>
          </a:prstGeom>
          <a:noFill/>
        </p:spPr>
        <p:txBody>
          <a:bodyPr wrap="square" rtlCol="0">
            <a:spAutoFit/>
          </a:bodyPr>
          <a:lstStyle/>
          <a:p>
            <a:r>
              <a:rPr lang="es-MX" sz="4000" dirty="0"/>
              <a:t>INSTITUCIÓN EDUCATIVA TÉCNICO INDUSTRIAL «JULIO FLÓREZ»</a:t>
            </a:r>
            <a:endParaRPr lang="es-CO" sz="4800" dirty="0"/>
          </a:p>
        </p:txBody>
      </p:sp>
      <p:sp>
        <p:nvSpPr>
          <p:cNvPr id="9" name="CuadroTexto 8">
            <a:extLst>
              <a:ext uri="{FF2B5EF4-FFF2-40B4-BE49-F238E27FC236}">
                <a16:creationId xmlns:a16="http://schemas.microsoft.com/office/drawing/2014/main" id="{5E89F5C0-2B26-497C-A337-0F22908BF6E9}"/>
              </a:ext>
            </a:extLst>
          </p:cNvPr>
          <p:cNvSpPr txBox="1"/>
          <p:nvPr/>
        </p:nvSpPr>
        <p:spPr>
          <a:xfrm>
            <a:off x="6524365" y="12566818"/>
            <a:ext cx="20833493" cy="830997"/>
          </a:xfrm>
          <a:prstGeom prst="rect">
            <a:avLst/>
          </a:prstGeom>
          <a:noFill/>
        </p:spPr>
        <p:txBody>
          <a:bodyPr wrap="square" rtlCol="0">
            <a:spAutoFit/>
          </a:bodyPr>
          <a:lstStyle/>
          <a:p>
            <a:r>
              <a:rPr lang="es-MX" sz="4800" dirty="0"/>
              <a:t>SISTEMAS INFORMÁTICOS</a:t>
            </a:r>
            <a:endParaRPr lang="es-CO" sz="4800" dirty="0"/>
          </a:p>
        </p:txBody>
      </p:sp>
      <p:sp>
        <p:nvSpPr>
          <p:cNvPr id="10" name="CuadroTexto 9">
            <a:extLst>
              <a:ext uri="{FF2B5EF4-FFF2-40B4-BE49-F238E27FC236}">
                <a16:creationId xmlns:a16="http://schemas.microsoft.com/office/drawing/2014/main" id="{FD05920B-C865-42C5-A61B-BA037A9DD317}"/>
              </a:ext>
            </a:extLst>
          </p:cNvPr>
          <p:cNvSpPr txBox="1"/>
          <p:nvPr/>
        </p:nvSpPr>
        <p:spPr>
          <a:xfrm>
            <a:off x="2969738" y="15758982"/>
            <a:ext cx="24388120" cy="830997"/>
          </a:xfrm>
          <a:prstGeom prst="rect">
            <a:avLst/>
          </a:prstGeom>
          <a:noFill/>
        </p:spPr>
        <p:txBody>
          <a:bodyPr wrap="square" rtlCol="0">
            <a:spAutoFit/>
          </a:bodyPr>
          <a:lstStyle/>
          <a:p>
            <a:r>
              <a:rPr lang="es-MX" sz="3900" dirty="0"/>
              <a:t>El deterioro ambiental es un desafío urgente y muchos jóvenes desconocen cómo sus acciones diarias afectan al planeta. Los métodos tradicionales —charlas, carteleras y folletos— resultan lentos y poco motivadores. Para solucionarlo se propone Dirty Road, un videojuego educativo desarrollado en Godot Engine donde el jugador defiende un Árbol vivo de oleadas de enemigos que representan problemas ambientales reales: microplástico, humo de fábrica, red fantasma, radiación y pesticidas, entre otros. Aprender a leerlos es aprender a leer el mundo.</a:t>
            </a:r>
            <a:endParaRPr lang="es-CO" sz="4800" dirty="0"/>
          </a:p>
        </p:txBody>
      </p:sp>
      <p:sp>
        <p:nvSpPr>
          <p:cNvPr id="11" name="CuadroTexto 10">
            <a:extLst>
              <a:ext uri="{FF2B5EF4-FFF2-40B4-BE49-F238E27FC236}">
                <a16:creationId xmlns:a16="http://schemas.microsoft.com/office/drawing/2014/main" id="{F2E6ECA4-12FD-41CE-B0AD-84A4977D0178}"/>
              </a:ext>
            </a:extLst>
          </p:cNvPr>
          <p:cNvSpPr txBox="1"/>
          <p:nvPr/>
        </p:nvSpPr>
        <p:spPr>
          <a:xfrm>
            <a:off x="2796746" y="21418929"/>
            <a:ext cx="24388120" cy="830997"/>
          </a:xfrm>
          <a:prstGeom prst="rect">
            <a:avLst/>
          </a:prstGeom>
          <a:noFill/>
        </p:spPr>
        <p:txBody>
          <a:bodyPr wrap="square" rtlCol="0">
            <a:spAutoFit/>
          </a:bodyPr>
          <a:lstStyle/>
          <a:p>
            <a:r>
              <a:rPr lang="es-MX" sz="4100" dirty="0"/>
              <a:t>¿Cómo motivar a los jóvenes mayores de 10 años a cuidar el medio ambiente de forma significativa, mediante un videojuego educativo en Godot Engine que represente problemas ambientales reales y enseñe a gestionarlos?</a:t>
            </a:r>
            <a:endParaRPr lang="es-CO" sz="4800" dirty="0"/>
          </a:p>
        </p:txBody>
      </p:sp>
      <p:sp>
        <p:nvSpPr>
          <p:cNvPr id="12" name="CuadroTexto 11">
            <a:extLst>
              <a:ext uri="{FF2B5EF4-FFF2-40B4-BE49-F238E27FC236}">
                <a16:creationId xmlns:a16="http://schemas.microsoft.com/office/drawing/2014/main" id="{5E1D7E4F-B3ED-468F-A151-BA78FEC7D4D6}"/>
              </a:ext>
            </a:extLst>
          </p:cNvPr>
          <p:cNvSpPr txBox="1"/>
          <p:nvPr/>
        </p:nvSpPr>
        <p:spPr>
          <a:xfrm>
            <a:off x="2722604" y="25352583"/>
            <a:ext cx="24388120" cy="830997"/>
          </a:xfrm>
          <a:prstGeom prst="rect">
            <a:avLst/>
          </a:prstGeom>
          <a:noFill/>
        </p:spPr>
        <p:txBody>
          <a:bodyPr wrap="square" rtlCol="0">
            <a:spAutoFit/>
          </a:bodyPr>
          <a:lstStyle/>
          <a:p>
            <a:r>
              <a:rPr lang="es-MX" sz="3500" dirty="0"/>
              <a:t>Desarrollar un videojuego educativo en Godot Engine para fomentar la conciencia ambiental en jóvenes mayores de 10 años.</a:t>
            </a:r>
            <a:endParaRPr lang="es-CO" sz="4800" dirty="0"/>
          </a:p>
          <a:p>
            <a:r>
              <a:rPr lang="es-MX" sz="3500" dirty="0"/>
              <a:t>Diseñar narrativa y mecánicas que muestren el impacto ambiental: reciclaje, reforestación y defensa del ecosistema.</a:t>
            </a:r>
            <a:endParaRPr lang="es-CO" sz="4800" dirty="0"/>
          </a:p>
          <a:p>
            <a:r>
              <a:rPr lang="es-MX" sz="3500" dirty="0"/>
              <a:t>Implementar un sistema educativo con mensajes breves y no bloqueantes durante la partida.</a:t>
            </a:r>
            <a:endParaRPr lang="es-CO" sz="4800" dirty="0"/>
          </a:p>
          <a:p>
            <a:r>
              <a:rPr lang="es-MX" sz="3500" dirty="0"/>
              <a:t>Usar Godot y Git para el desarrollo colaborativo y el respaldo del proyecto.</a:t>
            </a:r>
            <a:endParaRPr lang="es-CO" sz="4800" dirty="0"/>
          </a:p>
          <a:p>
            <a:r>
              <a:rPr lang="es-MX" sz="3500" dirty="0"/>
              <a:t>Probar y publicar el juego en PC y Android, con controles de teclado/ratón y táctiles.</a:t>
            </a:r>
            <a:endParaRPr lang="es-CO" sz="4800" dirty="0"/>
          </a:p>
        </p:txBody>
      </p:sp>
      <p:sp>
        <p:nvSpPr>
          <p:cNvPr id="13" name="CuadroTexto 12">
            <a:extLst>
              <a:ext uri="{FF2B5EF4-FFF2-40B4-BE49-F238E27FC236}">
                <a16:creationId xmlns:a16="http://schemas.microsoft.com/office/drawing/2014/main" id="{0442B591-D572-4DBB-807A-908AD54961CE}"/>
              </a:ext>
            </a:extLst>
          </p:cNvPr>
          <p:cNvSpPr txBox="1"/>
          <p:nvPr/>
        </p:nvSpPr>
        <p:spPr>
          <a:xfrm>
            <a:off x="2772032" y="31138023"/>
            <a:ext cx="14206152" cy="830997"/>
          </a:xfrm>
          <a:prstGeom prst="rect">
            <a:avLst/>
          </a:prstGeom>
          <a:noFill/>
        </p:spPr>
        <p:txBody>
          <a:bodyPr wrap="square" rtlCol="0">
            <a:spAutoFit/>
          </a:bodyPr>
          <a:lstStyle/>
          <a:p>
            <a:r>
              <a:rPr lang="es-MX" sz="3600" dirty="0"/>
              <a:t>Se desarrolló Dirty Road, un survival action 2D infinito y gratuito con 10 etapas de 10 oleadas, 30 enemigos normales y 10 jefes, donde cada enemigo representa un problema ambiental real. El juego integra un sistema educativo basado en el Aprendizaje Significativo: al primer encuentro con un enemigo aparece su ficha, y entre oleadas se muestran datos y reflexiones breves que no interrumpen la partida. La economía de biomasa y las cartas de mejora por rareza aportan profundidad sin romper el equilibrio. El proyecto se desarrolló en Godot 4.7 (GDScript) con Git/GitHub y se publicó para PC (Windows/Linux) y Android. Los resultados evidencian que el formato lúdico despierta más interés y retención que los métodos tradicionales.</a:t>
            </a:r>
            <a:endParaRPr lang="es-CO" sz="4800" dirty="0"/>
          </a:p>
        </p:txBody>
      </p:sp>
      <p:pic>
        <p:nvPicPr>
          <p:cNvPr id="14" name="Picture 13" descr="etapa_01.png"/>
          <p:cNvPicPr>
            <a:picLocks noChangeAspect="1"/>
          </p:cNvPicPr>
          <p:nvPr/>
        </p:nvPicPr>
        <p:blipFill>
          <a:blip r:embed="rId3"/>
          <a:stretch>
            <a:fillRect/>
          </a:stretch>
        </p:blipFill>
        <p:spPr>
          <a:xfrm>
            <a:off x="17352000" y="30672000"/>
            <a:ext cx="9792000" cy="5529600"/>
          </a:xfrm>
          <a:prstGeom prst="rect">
            <a:avLst/>
          </a:prstGeom>
        </p:spPr>
      </p:pic>
      <p:pic>
        <p:nvPicPr>
          <p:cNvPr id="15" name="Picture 14" descr="etapa_03.png"/>
          <p:cNvPicPr>
            <a:picLocks noChangeAspect="1"/>
          </p:cNvPicPr>
          <p:nvPr/>
        </p:nvPicPr>
        <p:blipFill>
          <a:blip r:embed="rId4"/>
          <a:stretch>
            <a:fillRect/>
          </a:stretch>
        </p:blipFill>
        <p:spPr>
          <a:xfrm>
            <a:off x="17352000" y="36763200"/>
            <a:ext cx="9792000" cy="5529600"/>
          </a:xfrm>
          <a:prstGeom prst="rect">
            <a:avLst/>
          </a:prstGeom>
        </p:spPr>
      </p:pic>
      <p:pic>
        <p:nvPicPr>
          <p:cNvPr id="16" name="Picture 15" descr="etapa_10.png"/>
          <p:cNvPicPr>
            <a:picLocks noChangeAspect="1"/>
          </p:cNvPicPr>
          <p:nvPr/>
        </p:nvPicPr>
        <p:blipFill>
          <a:blip r:embed="rId5"/>
          <a:stretch>
            <a:fillRect/>
          </a:stretch>
        </p:blipFill>
        <p:spPr>
          <a:xfrm>
            <a:off x="17352000" y="42854400"/>
            <a:ext cx="9792000" cy="5529600"/>
          </a:xfrm>
          <a:prstGeom prst="rect">
            <a:avLst/>
          </a:prstGeom>
        </p:spPr>
      </p:pic>
    </p:spTree>
    <p:extLst>
      <p:ext uri="{BB962C8B-B14F-4D97-AF65-F5344CB8AC3E}">
        <p14:creationId xmlns:p14="http://schemas.microsoft.com/office/powerpoint/2010/main" val="1452327044"/>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TotalTime>
  <Words>8</Words>
  <Application>Microsoft Office PowerPoint</Application>
  <PresentationFormat>Personalizado</PresentationFormat>
  <Paragraphs>8</Paragraphs>
  <Slides>1</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vt:i4>
      </vt:variant>
    </vt:vector>
  </HeadingPairs>
  <TitlesOfParts>
    <vt:vector size="5" baseType="lpstr">
      <vt:lpstr>Arial</vt:lpstr>
      <vt:lpstr>Calibri</vt:lpstr>
      <vt:lpstr>Calibri Light</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Camaleon</dc:creator>
  <cp:lastModifiedBy>Camaleon</cp:lastModifiedBy>
  <cp:revision>2</cp:revision>
  <dcterms:created xsi:type="dcterms:W3CDTF">2026-10-16T22:36:08Z</dcterms:created>
  <dcterms:modified xsi:type="dcterms:W3CDTF">2026-10-16T22:42:57Z</dcterms:modified>
</cp:coreProperties>
</file>