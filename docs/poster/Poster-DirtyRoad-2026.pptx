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8800425" cy="51120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21" d="100"/>
          <a:sy n="21" d="100"/>
        </p:scale>
        <p:origin x="1530"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366281"/>
            <a:ext cx="24480361" cy="17797568"/>
          </a:xfrm>
        </p:spPr>
        <p:txBody>
          <a:bodyPr anchor="b"/>
          <a:lstStyle>
            <a:lvl1pPr algn="ctr">
              <a:defRPr sz="18898"/>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600053" y="26850192"/>
            <a:ext cx="21600319" cy="12342326"/>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A08EA47-1105-4B9A-B345-5118B71F0985}" type="datetimeFigureOut">
              <a:rPr lang="es-CO" smtClean="0"/>
              <a:t>16/10/2026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3244743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08EA47-1105-4B9A-B345-5118B71F0985}" type="datetimeFigureOut">
              <a:rPr lang="es-CO" smtClean="0"/>
              <a:t>16/10/2026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55861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65030" y="12744683"/>
            <a:ext cx="24840367" cy="21264777"/>
          </a:xfrm>
        </p:spPr>
        <p:txBody>
          <a:bodyPr anchor="b"/>
          <a:lstStyle>
            <a:lvl1pPr>
              <a:defRPr sz="18898"/>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65030" y="34210633"/>
            <a:ext cx="24840367" cy="11182644"/>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A08EA47-1105-4B9A-B345-5118B71F0985}" type="datetimeFigureOut">
              <a:rPr lang="es-CO" smtClean="0"/>
              <a:t>16/10/2026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15131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80029" y="13608513"/>
            <a:ext cx="12240181" cy="32435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4580215" y="13608513"/>
            <a:ext cx="12240181" cy="32435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A08EA47-1105-4B9A-B345-5118B71F0985}" type="datetimeFigureOut">
              <a:rPr lang="es-CO" smtClean="0"/>
              <a:t>16/10/2026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95362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983780" y="2721714"/>
            <a:ext cx="24840367" cy="988096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3784" y="12531669"/>
            <a:ext cx="12183928" cy="6141577"/>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4" name="Content Placeholder 3"/>
          <p:cNvSpPr>
            <a:spLocks noGrp="1"/>
          </p:cNvSpPr>
          <p:nvPr>
            <p:ph sz="half" idx="2"/>
          </p:nvPr>
        </p:nvSpPr>
        <p:spPr>
          <a:xfrm>
            <a:off x="1983784" y="18673247"/>
            <a:ext cx="12183928" cy="2746553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4580217" y="12531669"/>
            <a:ext cx="12243932" cy="6141577"/>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s-ES"/>
              <a:t>Haga clic para modificar los estilos de texto del patrón</a:t>
            </a:r>
          </a:p>
        </p:txBody>
      </p:sp>
      <p:sp>
        <p:nvSpPr>
          <p:cNvPr id="6" name="Content Placeholder 5"/>
          <p:cNvSpPr>
            <a:spLocks noGrp="1"/>
          </p:cNvSpPr>
          <p:nvPr>
            <p:ph sz="quarter" idx="4"/>
          </p:nvPr>
        </p:nvSpPr>
        <p:spPr>
          <a:xfrm>
            <a:off x="14580217" y="18673247"/>
            <a:ext cx="12243932" cy="2746553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A08EA47-1105-4B9A-B345-5118B71F0985}" type="datetimeFigureOut">
              <a:rPr lang="es-CO" smtClean="0"/>
              <a:t>16/10/2026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268423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A08EA47-1105-4B9A-B345-5118B71F0985}" type="datetimeFigureOut">
              <a:rPr lang="es-CO" smtClean="0"/>
              <a:t>16/10/2026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25414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08EA47-1105-4B9A-B345-5118B71F0985}" type="datetimeFigureOut">
              <a:rPr lang="es-CO" smtClean="0"/>
              <a:t>16/10/2026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188024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408045"/>
            <a:ext cx="9288887" cy="11928158"/>
          </a:xfrm>
        </p:spPr>
        <p:txBody>
          <a:bodyPr anchor="b"/>
          <a:lstStyle>
            <a:lvl1pPr>
              <a:defRPr sz="10079"/>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243932" y="7360442"/>
            <a:ext cx="14580215" cy="36328813"/>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83780" y="15336203"/>
            <a:ext cx="9288887" cy="28412212"/>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A08EA47-1105-4B9A-B345-5118B71F0985}" type="datetimeFigureOut">
              <a:rPr lang="es-CO" smtClean="0"/>
              <a:t>16/10/2026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70010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83780" y="3408045"/>
            <a:ext cx="9288887" cy="11928158"/>
          </a:xfrm>
        </p:spPr>
        <p:txBody>
          <a:bodyPr anchor="b"/>
          <a:lstStyle>
            <a:lvl1pPr>
              <a:defRPr sz="10079"/>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243932" y="7360442"/>
            <a:ext cx="14580215" cy="36328813"/>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83780" y="15336203"/>
            <a:ext cx="9288887" cy="28412212"/>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A08EA47-1105-4B9A-B345-5118B71F0985}" type="datetimeFigureOut">
              <a:rPr lang="es-CO" smtClean="0"/>
              <a:t>16/10/2026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2912887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08EA47-1105-4B9A-B345-5118B71F0985}" type="datetimeFigureOut">
              <a:rPr lang="es-CO" smtClean="0"/>
              <a:t>16/10/2026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1327987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721703"/>
            <a:ext cx="6210092" cy="43322409"/>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80031" y="2721703"/>
            <a:ext cx="18270270" cy="4332240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A08EA47-1105-4B9A-B345-5118B71F0985}" type="datetimeFigureOut">
              <a:rPr lang="es-CO" smtClean="0"/>
              <a:t>16/10/2026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8B71043A-F544-4DAD-AE2D-308E2E208104}" type="slidenum">
              <a:rPr lang="es-CO" smtClean="0"/>
              <a:t>‹Nº›</a:t>
            </a:fld>
            <a:endParaRPr lang="es-CO"/>
          </a:p>
        </p:txBody>
      </p:sp>
    </p:spTree>
    <p:extLst>
      <p:ext uri="{BB962C8B-B14F-4D97-AF65-F5344CB8AC3E}">
        <p14:creationId xmlns:p14="http://schemas.microsoft.com/office/powerpoint/2010/main" val="33121545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721714"/>
            <a:ext cx="24840367" cy="988096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80029" y="13608513"/>
            <a:ext cx="24840367" cy="32435599"/>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980029" y="47381303"/>
            <a:ext cx="6480096" cy="2721703"/>
          </a:xfrm>
          <a:prstGeom prst="rect">
            <a:avLst/>
          </a:prstGeom>
        </p:spPr>
        <p:txBody>
          <a:bodyPr vert="horz" lIns="91440" tIns="45720" rIns="91440" bIns="45720" rtlCol="0" anchor="ctr"/>
          <a:lstStyle>
            <a:lvl1pPr algn="l">
              <a:defRPr sz="3780">
                <a:solidFill>
                  <a:schemeClr val="tx1">
                    <a:tint val="75000"/>
                  </a:schemeClr>
                </a:solidFill>
              </a:defRPr>
            </a:lvl1pPr>
          </a:lstStyle>
          <a:p>
            <a:fld id="{4A08EA47-1105-4B9A-B345-5118B71F0985}" type="datetimeFigureOut">
              <a:rPr lang="es-CO" smtClean="0"/>
              <a:t>16/10/2026</a:t>
            </a:fld>
            <a:endParaRPr lang="es-CO"/>
          </a:p>
        </p:txBody>
      </p:sp>
      <p:sp>
        <p:nvSpPr>
          <p:cNvPr id="5" name="Footer Placeholder 4"/>
          <p:cNvSpPr>
            <a:spLocks noGrp="1"/>
          </p:cNvSpPr>
          <p:nvPr>
            <p:ph type="ftr" sz="quarter" idx="3"/>
          </p:nvPr>
        </p:nvSpPr>
        <p:spPr>
          <a:xfrm>
            <a:off x="9540141" y="47381303"/>
            <a:ext cx="9720143" cy="2721703"/>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20340300" y="47381303"/>
            <a:ext cx="6480096" cy="2721703"/>
          </a:xfrm>
          <a:prstGeom prst="rect">
            <a:avLst/>
          </a:prstGeom>
        </p:spPr>
        <p:txBody>
          <a:bodyPr vert="horz" lIns="91440" tIns="45720" rIns="91440" bIns="45720" rtlCol="0" anchor="ctr"/>
          <a:lstStyle>
            <a:lvl1pPr algn="r">
              <a:defRPr sz="3780">
                <a:solidFill>
                  <a:schemeClr val="tx1">
                    <a:tint val="75000"/>
                  </a:schemeClr>
                </a:solidFill>
              </a:defRPr>
            </a:lvl1pPr>
          </a:lstStyle>
          <a:p>
            <a:fld id="{8B71043A-F544-4DAD-AE2D-308E2E208104}" type="slidenum">
              <a:rPr lang="es-CO" smtClean="0"/>
              <a:t>‹Nº›</a:t>
            </a:fld>
            <a:endParaRPr lang="es-CO"/>
          </a:p>
        </p:txBody>
      </p:sp>
    </p:spTree>
    <p:extLst>
      <p:ext uri="{BB962C8B-B14F-4D97-AF65-F5344CB8AC3E}">
        <p14:creationId xmlns:p14="http://schemas.microsoft.com/office/powerpoint/2010/main" val="32790423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2A4F27D-F053-45D2-B2F4-75697E5F61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533"/>
            <a:ext cx="28800425" cy="51081608"/>
          </a:xfrm>
          <a:prstGeom prst="rect">
            <a:avLst/>
          </a:prstGeom>
        </p:spPr>
      </p:pic>
      <p:sp>
        <p:nvSpPr>
          <p:cNvPr id="6" name="CuadroTexto 5">
            <a:extLst>
              <a:ext uri="{FF2B5EF4-FFF2-40B4-BE49-F238E27FC236}">
                <a16:creationId xmlns:a16="http://schemas.microsoft.com/office/drawing/2014/main" id="{29C0B9E1-BD15-4DB5-AD94-EF9959D0F8C3}"/>
              </a:ext>
            </a:extLst>
          </p:cNvPr>
          <p:cNvSpPr txBox="1"/>
          <p:nvPr/>
        </p:nvSpPr>
        <p:spPr>
          <a:xfrm>
            <a:off x="6598508" y="5400000"/>
            <a:ext cx="17052324" cy="2088000"/>
          </a:xfrm>
          <a:prstGeom prst="rect">
            <a:avLst/>
          </a:prstGeom>
          <a:noFill/>
        </p:spPr>
        <p:txBody>
          <a:bodyPr wrap="square" rtlCol="0" anchor="t" tIns="46800" bIns="46800">
            <a:noAutofit/>
          </a:bodyPr>
          <a:lstStyle/>
          <a:p>
            <a:r>
              <a:rPr lang="es-MX" sz="4400" dirty="0"/>
              <a:t>CREACIÓN DE UN VIDEOJUEGO EN GODOT ENGINE PARA CONCIENTIZAR SOBRE EL CUIDADO DEL MEDIO AMBIENTE ENFOCADO A MAYORES DE 10 AÑOS</a:t>
            </a:r>
            <a:endParaRPr lang="es-CO" sz="4800" dirty="0"/>
          </a:p>
        </p:txBody>
      </p:sp>
      <p:sp>
        <p:nvSpPr>
          <p:cNvPr id="7" name="CuadroTexto 6">
            <a:extLst>
              <a:ext uri="{FF2B5EF4-FFF2-40B4-BE49-F238E27FC236}">
                <a16:creationId xmlns:a16="http://schemas.microsoft.com/office/drawing/2014/main" id="{E034CAB3-2197-4ACD-B844-B4DFF7166B3F}"/>
              </a:ext>
            </a:extLst>
          </p:cNvPr>
          <p:cNvSpPr txBox="1"/>
          <p:nvPr/>
        </p:nvSpPr>
        <p:spPr>
          <a:xfrm>
            <a:off x="6549080" y="7883999"/>
            <a:ext cx="20880000" cy="1872000"/>
          </a:xfrm>
          <a:prstGeom prst="rect">
            <a:avLst/>
          </a:prstGeom>
          <a:noFill/>
        </p:spPr>
        <p:txBody>
          <a:bodyPr wrap="square" rtlCol="0" anchor="t" tIns="46800" bIns="46800">
            <a:noAutofit/>
          </a:bodyPr>
          <a:lstStyle/>
          <a:p>
            <a:r>
              <a:rPr lang="es-MX" sz="4000" dirty="0" b="0"/>
              <a:t>Juan Felipe Casas Aguilar</a:t>
            </a:r>
            <a:endParaRPr lang="es-CO" sz="4800" dirty="0"/>
          </a:p>
          <a:p>
            <a:r>
              <a:rPr lang="es-MX" sz="4000" dirty="0" b="0"/>
              <a:t>Miguel Ángel Murcia Galindo</a:t>
            </a:r>
            <a:endParaRPr lang="es-CO" sz="4800" dirty="0"/>
          </a:p>
          <a:p>
            <a:r>
              <a:rPr lang="es-MX" sz="4000" dirty="0" b="0"/>
              <a:t>Emmanuel Efrén Rosero Sánchez</a:t>
            </a:r>
            <a:endParaRPr lang="es-CO" sz="4800" dirty="0"/>
          </a:p>
        </p:txBody>
      </p:sp>
      <p:sp>
        <p:nvSpPr>
          <p:cNvPr id="8" name="CuadroTexto 7">
            <a:extLst>
              <a:ext uri="{FF2B5EF4-FFF2-40B4-BE49-F238E27FC236}">
                <a16:creationId xmlns:a16="http://schemas.microsoft.com/office/drawing/2014/main" id="{A50B846C-633C-4D07-8408-D8A2C17C37BE}"/>
              </a:ext>
            </a:extLst>
          </p:cNvPr>
          <p:cNvSpPr txBox="1"/>
          <p:nvPr/>
        </p:nvSpPr>
        <p:spPr>
          <a:xfrm>
            <a:off x="6549080" y="10610333"/>
            <a:ext cx="20561644" cy="830997"/>
          </a:xfrm>
          <a:prstGeom prst="rect">
            <a:avLst/>
          </a:prstGeom>
          <a:noFill/>
        </p:spPr>
        <p:txBody>
          <a:bodyPr wrap="square" rtlCol="0">
            <a:spAutoFit/>
          </a:bodyPr>
          <a:lstStyle/>
          <a:p>
            <a:r>
              <a:rPr lang="es-MX" sz="4000" dirty="0"/>
              <a:t>INSTITUCIÓN EDUCATIVA TÉCNICO INDUSTRIAL «JULIO FLÓREZ»</a:t>
            </a:r>
            <a:endParaRPr lang="es-CO" sz="4800" dirty="0"/>
          </a:p>
        </p:txBody>
      </p:sp>
      <p:sp>
        <p:nvSpPr>
          <p:cNvPr id="9" name="CuadroTexto 8">
            <a:extLst>
              <a:ext uri="{FF2B5EF4-FFF2-40B4-BE49-F238E27FC236}">
                <a16:creationId xmlns:a16="http://schemas.microsoft.com/office/drawing/2014/main" id="{5E89F5C0-2B26-497C-A337-0F22908BF6E9}"/>
              </a:ext>
            </a:extLst>
          </p:cNvPr>
          <p:cNvSpPr txBox="1"/>
          <p:nvPr/>
        </p:nvSpPr>
        <p:spPr>
          <a:xfrm>
            <a:off x="6524365" y="12566818"/>
            <a:ext cx="20833493" cy="830997"/>
          </a:xfrm>
          <a:prstGeom prst="rect">
            <a:avLst/>
          </a:prstGeom>
          <a:noFill/>
        </p:spPr>
        <p:txBody>
          <a:bodyPr wrap="square" rtlCol="0">
            <a:spAutoFit/>
          </a:bodyPr>
          <a:lstStyle/>
          <a:p>
            <a:r>
              <a:rPr lang="es-MX" sz="4800" dirty="0"/>
              <a:t>SISTEMAS INFORMÁTICOS</a:t>
            </a:r>
            <a:endParaRPr lang="es-CO" sz="4800" dirty="0"/>
          </a:p>
        </p:txBody>
      </p:sp>
      <p:sp>
        <p:nvSpPr>
          <p:cNvPr id="10" name="CuadroTexto 9">
            <a:extLst>
              <a:ext uri="{FF2B5EF4-FFF2-40B4-BE49-F238E27FC236}">
                <a16:creationId xmlns:a16="http://schemas.microsoft.com/office/drawing/2014/main" id="{FD05920B-C865-42C5-A61B-BA037A9DD317}"/>
              </a:ext>
            </a:extLst>
          </p:cNvPr>
          <p:cNvSpPr txBox="1"/>
          <p:nvPr/>
        </p:nvSpPr>
        <p:spPr>
          <a:xfrm>
            <a:off x="2969738" y="15758982"/>
            <a:ext cx="24388120" cy="830997"/>
          </a:xfrm>
          <a:prstGeom prst="rect">
            <a:avLst/>
          </a:prstGeom>
          <a:noFill/>
        </p:spPr>
        <p:txBody>
          <a:bodyPr wrap="square" rtlCol="0">
            <a:spAutoFit/>
          </a:bodyPr>
          <a:lstStyle/>
          <a:p>
            <a:r>
              <a:rPr lang="es-MX" sz="3900" dirty="0"/>
              <a:t>El deterioro ambiental es un desafío urgente y muchos jóvenes desconocen cómo sus acciones diarias afectan al planeta. Los métodos tradicionales —charlas, carteleras y folletos— resultan lentos y poco motivadores. Para solucionarlo se propone Dirty Road, un videojuego educativo desarrollado en Godot Engine donde el jugador defiende un Árbol vivo de oleadas de enemigos que representan problemas ambientales reales: microplástico, humo de fábrica, red fantasma, radiación y pesticidas, entre otros. Aprender a leerlos es aprender a leer el mundo.</a:t>
            </a:r>
            <a:endParaRPr lang="es-CO" sz="4800" dirty="0"/>
          </a:p>
        </p:txBody>
      </p:sp>
      <p:sp>
        <p:nvSpPr>
          <p:cNvPr id="11" name="CuadroTexto 10">
            <a:extLst>
              <a:ext uri="{FF2B5EF4-FFF2-40B4-BE49-F238E27FC236}">
                <a16:creationId xmlns:a16="http://schemas.microsoft.com/office/drawing/2014/main" id="{F2E6ECA4-12FD-41CE-B0AD-84A4977D0178}"/>
              </a:ext>
            </a:extLst>
          </p:cNvPr>
          <p:cNvSpPr txBox="1"/>
          <p:nvPr/>
        </p:nvSpPr>
        <p:spPr>
          <a:xfrm>
            <a:off x="2796746" y="21418929"/>
            <a:ext cx="24388120" cy="830997"/>
          </a:xfrm>
          <a:prstGeom prst="rect">
            <a:avLst/>
          </a:prstGeom>
          <a:noFill/>
        </p:spPr>
        <p:txBody>
          <a:bodyPr wrap="square" rtlCol="0">
            <a:spAutoFit/>
          </a:bodyPr>
          <a:lstStyle/>
          <a:p>
            <a:r>
              <a:rPr lang="es-MX" sz="4100" dirty="0"/>
              <a:t>¿Cómo motivar a los jóvenes mayores de 10 años a cuidar el medio ambiente de forma significativa, mediante un videojuego educativo en Godot Engine que represente problemas ambientales reales y enseñe a gestionarlos?</a:t>
            </a:r>
            <a:endParaRPr lang="es-CO" sz="4800" dirty="0"/>
          </a:p>
        </p:txBody>
      </p:sp>
      <p:sp>
        <p:nvSpPr>
          <p:cNvPr id="12" name="CuadroTexto 11">
            <a:extLst>
              <a:ext uri="{FF2B5EF4-FFF2-40B4-BE49-F238E27FC236}">
                <a16:creationId xmlns:a16="http://schemas.microsoft.com/office/drawing/2014/main" id="{5E1D7E4F-B3ED-468F-A151-BA78FEC7D4D6}"/>
              </a:ext>
            </a:extLst>
          </p:cNvPr>
          <p:cNvSpPr txBox="1"/>
          <p:nvPr/>
        </p:nvSpPr>
        <p:spPr>
          <a:xfrm>
            <a:off x="2722604" y="25352583"/>
            <a:ext cx="24388120" cy="830997"/>
          </a:xfrm>
          <a:prstGeom prst="rect">
            <a:avLst/>
          </a:prstGeom>
          <a:noFill/>
        </p:spPr>
        <p:txBody>
          <a:bodyPr wrap="square" rtlCol="0">
            <a:spAutoFit/>
          </a:bodyPr>
          <a:lstStyle/>
          <a:p>
            <a:r>
              <a:rPr lang="es-MX" sz="3500" dirty="0"/>
              <a:t>Desarrollar un videojuego educativo en Godot Engine para fomentar la conciencia ambiental en jóvenes mayores de 10 años.</a:t>
            </a:r>
            <a:endParaRPr lang="es-CO" sz="4800" dirty="0"/>
          </a:p>
          <a:p>
            <a:r>
              <a:rPr lang="es-MX" sz="3500" dirty="0"/>
              <a:t>Diseñar narrativa y mecánicas que muestren el impacto ambiental: reciclaje, reforestación y defensa del ecosistema.</a:t>
            </a:r>
            <a:endParaRPr lang="es-CO" sz="4800" dirty="0"/>
          </a:p>
          <a:p>
            <a:r>
              <a:rPr lang="es-MX" sz="3500" dirty="0"/>
              <a:t>Implementar un sistema educativo con mensajes breves y no bloqueantes durante la partida.</a:t>
            </a:r>
            <a:endParaRPr lang="es-CO" sz="4800" dirty="0"/>
          </a:p>
          <a:p>
            <a:r>
              <a:rPr lang="es-MX" sz="3500" dirty="0"/>
              <a:t>Usar Godot y Git para el desarrollo colaborativo y el respaldo del proyecto.</a:t>
            </a:r>
            <a:endParaRPr lang="es-CO" sz="4800" dirty="0"/>
          </a:p>
          <a:p>
            <a:r>
              <a:rPr lang="es-MX" sz="3500" dirty="0"/>
              <a:t>Probar y publicar el juego en PC y Android, con controles de teclado/ratón y táctiles.</a:t>
            </a:r>
            <a:endParaRPr lang="es-CO" sz="4800" dirty="0"/>
          </a:p>
        </p:txBody>
      </p:sp>
      <p:sp>
        <p:nvSpPr>
          <p:cNvPr id="13" name="CuadroTexto 12">
            <a:extLst>
              <a:ext uri="{FF2B5EF4-FFF2-40B4-BE49-F238E27FC236}">
                <a16:creationId xmlns:a16="http://schemas.microsoft.com/office/drawing/2014/main" id="{0442B591-D572-4DBB-807A-908AD54961CE}"/>
              </a:ext>
            </a:extLst>
          </p:cNvPr>
          <p:cNvSpPr txBox="1"/>
          <p:nvPr/>
        </p:nvSpPr>
        <p:spPr>
          <a:xfrm>
            <a:off x="2772032" y="31138023"/>
            <a:ext cx="14206152" cy="830997"/>
          </a:xfrm>
          <a:prstGeom prst="rect">
            <a:avLst/>
          </a:prstGeom>
          <a:noFill/>
        </p:spPr>
        <p:txBody>
          <a:bodyPr wrap="square" rtlCol="0">
            <a:spAutoFit/>
          </a:bodyPr>
          <a:lstStyle/>
          <a:p>
            <a:r>
              <a:rPr lang="es-MX" sz="3500" dirty="0"/>
              <a:t>Se desarrolló Dirty Road, un videojuego educativo de acción y supervivencia en 2D con vista cenital, donde el jugador defiende un Árbol vivo —último símbolo de un ecosistema sano— frente a oleadas de enemigos que representan problemas ambientales reales. El contenido final comprende 10 etapas de 10 oleadas (100 oleadas por ciclo), con 30 enemigos normales y 10 jefes; cada enemigo y cada jefe mapea a un problema ambiental concreto (microplástico, humo, red fantasma, radiación, pesticidas, deforestación, cambio climático), de modo que el jugador aprende a reconocerlos mientras juega.</a:t>
            </a:r>
            <a:endParaRPr lang="es-CO" sz="4800" dirty="0"/>
          </a:p>
          <a:p>
            <a:r>
              <a:rPr lang="es-MX" sz="3500" dirty="0"/>
              <a:t>La capa educativa es un pilar del proyecto y se apoya en la Teoría del Aprendizaje Significativo y en la gamificación: al primer encuentro con un enemigo aparece su ficha con datos reales, y entre oleadas se muestran mensajes breves y datos de supervivencia que nunca interrumpen la partida. Toda la capa es ajustable (tamaño, posición, duración, insignia y sonido), igual que el HUD y las opciones de accesibilidad.</a:t>
            </a:r>
            <a:endParaRPr lang="es-CO" sz="4800" dirty="0"/>
          </a:p>
          <a:p>
            <a:r>
              <a:rPr lang="es-MX" sz="3500" dirty="0"/>
              <a:t>El sistema de juego combina combate a distancia con apuntado automático o manual, un dash con invulnerabilidad y un ataque especial (lluvia de meteoritos) que consume biomasa. La economía se basa en la biomasa que sueltan los enemigos y en cartas de mejora por rareza (común, rara, épica y legendaria), acumulables, que modifican los stats del jugador o del Árbol.</a:t>
            </a:r>
            <a:endParaRPr lang="es-CO" sz="4800" dirty="0"/>
          </a:p>
          <a:p>
            <a:r>
              <a:rPr lang="es-MX" sz="3500" dirty="0"/>
              <a:t>El proyecto se desarrolló en Godot Engine 4.7 con GDScript y Git/GitHub, y se publicó como software gratuito para PC (Windows/Linux) y Android, con controles de teclado y ratón o táctiles. Los resultados evidencian que el formato lúdico despierta más interés y retención que los métodos tradicionales.</a:t>
            </a:r>
            <a:endParaRPr lang="es-CO" sz="4800" dirty="0"/>
          </a:p>
        </p:txBody>
      </p:sp>
      <p:pic>
        <p:nvPicPr>
          <p:cNvPr id="14" name="Picture 13" descr="etapa_01.png"/>
          <p:cNvPicPr>
            <a:picLocks noChangeAspect="1"/>
          </p:cNvPicPr>
          <p:nvPr/>
        </p:nvPicPr>
        <p:blipFill>
          <a:blip r:embed="rId3"/>
          <a:stretch>
            <a:fillRect/>
          </a:stretch>
        </p:blipFill>
        <p:spPr>
          <a:xfrm>
            <a:off x="17352000" y="30672000"/>
            <a:ext cx="9792000" cy="5529600"/>
          </a:xfrm>
          <a:prstGeom prst="rect">
            <a:avLst/>
          </a:prstGeom>
        </p:spPr>
      </p:pic>
      <p:pic>
        <p:nvPicPr>
          <p:cNvPr id="15" name="Picture 14" descr="etapa_03.png"/>
          <p:cNvPicPr>
            <a:picLocks noChangeAspect="1"/>
          </p:cNvPicPr>
          <p:nvPr/>
        </p:nvPicPr>
        <p:blipFill>
          <a:blip r:embed="rId4"/>
          <a:stretch>
            <a:fillRect/>
          </a:stretch>
        </p:blipFill>
        <p:spPr>
          <a:xfrm>
            <a:off x="17352000" y="36763200"/>
            <a:ext cx="9792000" cy="5529600"/>
          </a:xfrm>
          <a:prstGeom prst="rect">
            <a:avLst/>
          </a:prstGeom>
        </p:spPr>
      </p:pic>
      <p:pic>
        <p:nvPicPr>
          <p:cNvPr id="16" name="Picture 15" descr="etapa_10.png"/>
          <p:cNvPicPr>
            <a:picLocks noChangeAspect="1"/>
          </p:cNvPicPr>
          <p:nvPr/>
        </p:nvPicPr>
        <p:blipFill>
          <a:blip r:embed="rId5"/>
          <a:stretch>
            <a:fillRect/>
          </a:stretch>
        </p:blipFill>
        <p:spPr>
          <a:xfrm>
            <a:off x="17352000" y="42854400"/>
            <a:ext cx="9792000" cy="5529600"/>
          </a:xfrm>
          <a:prstGeom prst="rect">
            <a:avLst/>
          </a:prstGeom>
        </p:spPr>
      </p:pic>
    </p:spTree>
    <p:extLst>
      <p:ext uri="{BB962C8B-B14F-4D97-AF65-F5344CB8AC3E}">
        <p14:creationId xmlns:p14="http://schemas.microsoft.com/office/powerpoint/2010/main" val="145232704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TotalTime>
  <Words>8</Words>
  <Application>Microsoft Office PowerPoint</Application>
  <PresentationFormat>Personalizado</PresentationFormat>
  <Paragraphs>8</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Calibri Light</vt:lpstr>
      <vt:lpstr>Tema de Office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Camaleon</dc:creator>
  <cp:lastModifiedBy>Camaleon</cp:lastModifiedBy>
  <cp:revision>2</cp:revision>
  <dcterms:created xsi:type="dcterms:W3CDTF">2026-10-16T22:36:08Z</dcterms:created>
  <dcterms:modified xsi:type="dcterms:W3CDTF">2026-10-16T22:42:57Z</dcterms:modified>
</cp:coreProperties>
</file>